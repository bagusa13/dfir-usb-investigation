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31DFFF-392C-4130-BCB1-B2941FA558B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75BC15-CE90-4E9F-850A-C1363C127C29}">
      <dgm:prSet phldrT="[Text]"/>
      <dgm:spPr/>
      <dgm:t>
        <a:bodyPr/>
        <a:lstStyle/>
        <a:p>
          <a:pPr>
            <a:buNone/>
          </a:pPr>
          <a:r>
            <a:rPr lang="en-US" dirty="0"/>
            <a:t>1. Preserve</a:t>
          </a:r>
        </a:p>
      </dgm:t>
    </dgm:pt>
    <dgm:pt modelId="{B9D70619-D751-4D9F-880F-58FF1E670A55}" type="parTrans" cxnId="{78D870FC-6306-4197-973A-67132C67B0EC}">
      <dgm:prSet/>
      <dgm:spPr/>
      <dgm:t>
        <a:bodyPr/>
        <a:lstStyle/>
        <a:p>
          <a:endParaRPr lang="en-US"/>
        </a:p>
      </dgm:t>
    </dgm:pt>
    <dgm:pt modelId="{38D9E089-5E3F-482C-9119-356A877DC70E}" type="sibTrans" cxnId="{78D870FC-6306-4197-973A-67132C67B0EC}">
      <dgm:prSet/>
      <dgm:spPr/>
      <dgm:t>
        <a:bodyPr/>
        <a:lstStyle/>
        <a:p>
          <a:endParaRPr lang="en-US"/>
        </a:p>
      </dgm:t>
    </dgm:pt>
    <dgm:pt modelId="{2255EAE7-12B4-4A42-B266-6E6ED46AAD22}">
      <dgm:prSet phldrT="[Text]"/>
      <dgm:spPr/>
      <dgm:t>
        <a:bodyPr/>
        <a:lstStyle/>
        <a:p>
          <a:pPr>
            <a:buNone/>
          </a:pPr>
          <a:r>
            <a:rPr lang="en-US" dirty="0"/>
            <a:t>Verify the image, calculate hashes, and document evidence handling.</a:t>
          </a:r>
        </a:p>
      </dgm:t>
    </dgm:pt>
    <dgm:pt modelId="{40C8CF26-AAF2-4FD0-B2D0-B8ECD6981CD6}" type="parTrans" cxnId="{9A31D250-52E2-4862-863B-715B6FA60BA7}">
      <dgm:prSet/>
      <dgm:spPr/>
      <dgm:t>
        <a:bodyPr/>
        <a:lstStyle/>
        <a:p>
          <a:endParaRPr lang="en-US"/>
        </a:p>
      </dgm:t>
    </dgm:pt>
    <dgm:pt modelId="{3FDA1DA2-261A-45D4-B029-CD97D9083308}" type="sibTrans" cxnId="{9A31D250-52E2-4862-863B-715B6FA60BA7}">
      <dgm:prSet/>
      <dgm:spPr/>
      <dgm:t>
        <a:bodyPr/>
        <a:lstStyle/>
        <a:p>
          <a:endParaRPr lang="en-US"/>
        </a:p>
      </dgm:t>
    </dgm:pt>
    <dgm:pt modelId="{4E5F204F-DEDA-476B-ACB4-2B5499422B42}">
      <dgm:prSet phldrT="[Text]"/>
      <dgm:spPr/>
      <dgm:t>
        <a:bodyPr/>
        <a:lstStyle/>
        <a:p>
          <a:pPr>
            <a:buNone/>
          </a:pPr>
          <a:r>
            <a:rPr lang="en-US" dirty="0"/>
            <a:t>2. Identify</a:t>
          </a:r>
        </a:p>
      </dgm:t>
    </dgm:pt>
    <dgm:pt modelId="{8163DDCF-5F86-44B3-9205-4F95ECA556EA}" type="parTrans" cxnId="{1F6F7BD7-F659-477E-B48D-3E4785091AC1}">
      <dgm:prSet/>
      <dgm:spPr/>
      <dgm:t>
        <a:bodyPr/>
        <a:lstStyle/>
        <a:p>
          <a:endParaRPr lang="en-US"/>
        </a:p>
      </dgm:t>
    </dgm:pt>
    <dgm:pt modelId="{68FD915D-0E4A-4D68-BEC3-76B2126048AB}" type="sibTrans" cxnId="{1F6F7BD7-F659-477E-B48D-3E4785091AC1}">
      <dgm:prSet/>
      <dgm:spPr/>
      <dgm:t>
        <a:bodyPr/>
        <a:lstStyle/>
        <a:p>
          <a:endParaRPr lang="en-US"/>
        </a:p>
      </dgm:t>
    </dgm:pt>
    <dgm:pt modelId="{5426698B-D24F-49E9-B4C2-50ECC5E553F6}">
      <dgm:prSet phldrT="[Text]"/>
      <dgm:spPr/>
      <dgm:t>
        <a:bodyPr/>
        <a:lstStyle/>
        <a:p>
          <a:pPr>
            <a:buNone/>
          </a:pPr>
          <a:r>
            <a:rPr lang="en-US" dirty="0"/>
            <a:t>Determine the image format, partitions, file systems, and operating system.</a:t>
          </a:r>
        </a:p>
      </dgm:t>
    </dgm:pt>
    <dgm:pt modelId="{0787B157-58DD-46CB-96B1-49EC0BC8C11A}" type="parTrans" cxnId="{7085CF2A-BF79-4A89-A96B-02C864F96E7E}">
      <dgm:prSet/>
      <dgm:spPr/>
      <dgm:t>
        <a:bodyPr/>
        <a:lstStyle/>
        <a:p>
          <a:endParaRPr lang="en-US"/>
        </a:p>
      </dgm:t>
    </dgm:pt>
    <dgm:pt modelId="{999C534D-B91D-4831-9A52-93A898EA1A53}" type="sibTrans" cxnId="{7085CF2A-BF79-4A89-A96B-02C864F96E7E}">
      <dgm:prSet/>
      <dgm:spPr/>
      <dgm:t>
        <a:bodyPr/>
        <a:lstStyle/>
        <a:p>
          <a:endParaRPr lang="en-US"/>
        </a:p>
      </dgm:t>
    </dgm:pt>
    <dgm:pt modelId="{CDA60086-8F56-4A3F-8F50-F9845C7CEA2F}">
      <dgm:prSet phldrT="[Text]"/>
      <dgm:spPr/>
      <dgm:t>
        <a:bodyPr/>
        <a:lstStyle/>
        <a:p>
          <a:pPr>
            <a:buNone/>
          </a:pPr>
          <a:r>
            <a:rPr lang="en-US" dirty="0"/>
            <a:t>3. Extract</a:t>
          </a:r>
        </a:p>
      </dgm:t>
    </dgm:pt>
    <dgm:pt modelId="{5FE3C928-A9EF-4237-BB18-14B45E85440A}" type="parTrans" cxnId="{CFB0807A-BFF3-4ACB-AB6C-F9EF78ED9043}">
      <dgm:prSet/>
      <dgm:spPr/>
    </dgm:pt>
    <dgm:pt modelId="{61E40220-47FE-4BDB-A770-5474145F266D}" type="sibTrans" cxnId="{CFB0807A-BFF3-4ACB-AB6C-F9EF78ED9043}">
      <dgm:prSet/>
      <dgm:spPr/>
    </dgm:pt>
    <dgm:pt modelId="{44626C79-73FC-4D6C-8518-64F318896A58}">
      <dgm:prSet phldrT="[Text]"/>
      <dgm:spPr/>
      <dgm:t>
        <a:bodyPr/>
        <a:lstStyle/>
        <a:p>
          <a:pPr>
            <a:buNone/>
          </a:pPr>
          <a:r>
            <a:rPr lang="en-US"/>
            <a:t>Enumerate files, metadata, deleted records, and relevant system artifacts.</a:t>
          </a:r>
          <a:endParaRPr lang="en-US" dirty="0"/>
        </a:p>
      </dgm:t>
    </dgm:pt>
    <dgm:pt modelId="{8C83D5D2-5320-4A80-B2F1-9E97D31E32CD}" type="parTrans" cxnId="{02077043-08A2-4066-9620-61EE3A25E465}">
      <dgm:prSet/>
      <dgm:spPr/>
    </dgm:pt>
    <dgm:pt modelId="{AD019ED3-AE4B-4E56-8955-599D9E1CF644}" type="sibTrans" cxnId="{02077043-08A2-4066-9620-61EE3A25E465}">
      <dgm:prSet/>
      <dgm:spPr/>
    </dgm:pt>
    <dgm:pt modelId="{F90FE1B9-8B83-4459-9B50-EA667054E7BD}">
      <dgm:prSet phldrT="[Text]"/>
      <dgm:spPr/>
      <dgm:t>
        <a:bodyPr/>
        <a:lstStyle/>
        <a:p>
          <a:pPr>
            <a:buNone/>
          </a:pPr>
          <a:r>
            <a:rPr lang="en-US" dirty="0"/>
            <a:t>4. Search</a:t>
          </a:r>
        </a:p>
      </dgm:t>
    </dgm:pt>
    <dgm:pt modelId="{68557F01-A1F4-40F4-A53D-75E5C10D40DD}" type="parTrans" cxnId="{5FB8F02D-7F67-4508-A3E4-0E6579F69B97}">
      <dgm:prSet/>
      <dgm:spPr/>
    </dgm:pt>
    <dgm:pt modelId="{6DF5500E-EA11-452E-B43C-C79DED4228B8}" type="sibTrans" cxnId="{5FB8F02D-7F67-4508-A3E4-0E6579F69B97}">
      <dgm:prSet/>
      <dgm:spPr/>
    </dgm:pt>
    <dgm:pt modelId="{C493F0A9-23EE-4A31-98C7-8E74E14E8EA9}">
      <dgm:prSet phldrT="[Text]"/>
      <dgm:spPr/>
      <dgm:t>
        <a:bodyPr/>
        <a:lstStyle/>
        <a:p>
          <a:pPr>
            <a:buNone/>
          </a:pPr>
          <a:r>
            <a:rPr lang="en-US"/>
            <a:t>Perform keyword searches, file-signature analysis, carving, and targeted artifact examination.</a:t>
          </a:r>
          <a:endParaRPr lang="en-US" dirty="0"/>
        </a:p>
      </dgm:t>
    </dgm:pt>
    <dgm:pt modelId="{A4A1FF28-F4A8-49E9-A2D9-BF5796D0031B}" type="parTrans" cxnId="{4DAB2AEA-4588-4DF1-BAA6-55F48949F49C}">
      <dgm:prSet/>
      <dgm:spPr/>
    </dgm:pt>
    <dgm:pt modelId="{998D33C3-1301-4ABB-8DCE-32B5B0BA8980}" type="sibTrans" cxnId="{4DAB2AEA-4588-4DF1-BAA6-55F48949F49C}">
      <dgm:prSet/>
      <dgm:spPr/>
    </dgm:pt>
    <dgm:pt modelId="{F97601C5-3DBE-45DC-9753-32451B4FBCFF}" type="pres">
      <dgm:prSet presAssocID="{1831DFFF-392C-4130-BCB1-B2941FA558B4}" presName="linear" presStyleCnt="0">
        <dgm:presLayoutVars>
          <dgm:animLvl val="lvl"/>
          <dgm:resizeHandles val="exact"/>
        </dgm:presLayoutVars>
      </dgm:prSet>
      <dgm:spPr/>
    </dgm:pt>
    <dgm:pt modelId="{B0557DDB-E47B-48A7-8749-FC5923D6A55F}" type="pres">
      <dgm:prSet presAssocID="{D975BC15-CE90-4E9F-850A-C1363C127C2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C857BA5-0E5A-444E-8E11-A1BCEC26AE88}" type="pres">
      <dgm:prSet presAssocID="{D975BC15-CE90-4E9F-850A-C1363C127C29}" presName="childText" presStyleLbl="revTx" presStyleIdx="0" presStyleCnt="4">
        <dgm:presLayoutVars>
          <dgm:bulletEnabled val="1"/>
        </dgm:presLayoutVars>
      </dgm:prSet>
      <dgm:spPr/>
    </dgm:pt>
    <dgm:pt modelId="{046570D6-F587-4C27-BC52-238D9DD429FA}" type="pres">
      <dgm:prSet presAssocID="{4E5F204F-DEDA-476B-ACB4-2B5499422B4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67C6E17-5562-4A88-9988-BD6D1AECB84E}" type="pres">
      <dgm:prSet presAssocID="{4E5F204F-DEDA-476B-ACB4-2B5499422B42}" presName="childText" presStyleLbl="revTx" presStyleIdx="1" presStyleCnt="4">
        <dgm:presLayoutVars>
          <dgm:bulletEnabled val="1"/>
        </dgm:presLayoutVars>
      </dgm:prSet>
      <dgm:spPr/>
    </dgm:pt>
    <dgm:pt modelId="{817F51F5-1396-44BF-B067-795ED8EA5F8E}" type="pres">
      <dgm:prSet presAssocID="{CDA60086-8F56-4A3F-8F50-F9845C7CEA2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EC83E69-6B61-4654-A816-0963BAEC1F80}" type="pres">
      <dgm:prSet presAssocID="{CDA60086-8F56-4A3F-8F50-F9845C7CEA2F}" presName="childText" presStyleLbl="revTx" presStyleIdx="2" presStyleCnt="4">
        <dgm:presLayoutVars>
          <dgm:bulletEnabled val="1"/>
        </dgm:presLayoutVars>
      </dgm:prSet>
      <dgm:spPr/>
    </dgm:pt>
    <dgm:pt modelId="{A6016516-71CF-49B9-B21D-FCFBEF2E951D}" type="pres">
      <dgm:prSet presAssocID="{F90FE1B9-8B83-4459-9B50-EA667054E7B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EABD862-64B4-47E0-89C3-29CB822DE34C}" type="pres">
      <dgm:prSet presAssocID="{F90FE1B9-8B83-4459-9B50-EA667054E7BD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1BC87D0F-FA3D-48AC-AF9D-F40DE22FBCEB}" type="presOf" srcId="{44626C79-73FC-4D6C-8518-64F318896A58}" destId="{0EC83E69-6B61-4654-A816-0963BAEC1F80}" srcOrd="0" destOrd="0" presId="urn:microsoft.com/office/officeart/2005/8/layout/vList2"/>
    <dgm:cxn modelId="{BE29B513-21B0-476F-94C9-9B9EE7925BE4}" type="presOf" srcId="{1831DFFF-392C-4130-BCB1-B2941FA558B4}" destId="{F97601C5-3DBE-45DC-9753-32451B4FBCFF}" srcOrd="0" destOrd="0" presId="urn:microsoft.com/office/officeart/2005/8/layout/vList2"/>
    <dgm:cxn modelId="{7085CF2A-BF79-4A89-A96B-02C864F96E7E}" srcId="{4E5F204F-DEDA-476B-ACB4-2B5499422B42}" destId="{5426698B-D24F-49E9-B4C2-50ECC5E553F6}" srcOrd="0" destOrd="0" parTransId="{0787B157-58DD-46CB-96B1-49EC0BC8C11A}" sibTransId="{999C534D-B91D-4831-9A52-93A898EA1A53}"/>
    <dgm:cxn modelId="{5FB8F02D-7F67-4508-A3E4-0E6579F69B97}" srcId="{1831DFFF-392C-4130-BCB1-B2941FA558B4}" destId="{F90FE1B9-8B83-4459-9B50-EA667054E7BD}" srcOrd="3" destOrd="0" parTransId="{68557F01-A1F4-40F4-A53D-75E5C10D40DD}" sibTransId="{6DF5500E-EA11-452E-B43C-C79DED4228B8}"/>
    <dgm:cxn modelId="{4B716938-6265-48FA-B424-24AD47BE6B1E}" type="presOf" srcId="{CDA60086-8F56-4A3F-8F50-F9845C7CEA2F}" destId="{817F51F5-1396-44BF-B067-795ED8EA5F8E}" srcOrd="0" destOrd="0" presId="urn:microsoft.com/office/officeart/2005/8/layout/vList2"/>
    <dgm:cxn modelId="{26F4F55D-1B9C-4A37-85E0-0A34A7030D9B}" type="presOf" srcId="{C493F0A9-23EE-4A31-98C7-8E74E14E8EA9}" destId="{EEABD862-64B4-47E0-89C3-29CB822DE34C}" srcOrd="0" destOrd="0" presId="urn:microsoft.com/office/officeart/2005/8/layout/vList2"/>
    <dgm:cxn modelId="{02077043-08A2-4066-9620-61EE3A25E465}" srcId="{CDA60086-8F56-4A3F-8F50-F9845C7CEA2F}" destId="{44626C79-73FC-4D6C-8518-64F318896A58}" srcOrd="0" destOrd="0" parTransId="{8C83D5D2-5320-4A80-B2F1-9E97D31E32CD}" sibTransId="{AD019ED3-AE4B-4E56-8955-599D9E1CF644}"/>
    <dgm:cxn modelId="{B17C3B4B-1A38-4DAF-A2E3-8564C649E0D7}" type="presOf" srcId="{2255EAE7-12B4-4A42-B266-6E6ED46AAD22}" destId="{7C857BA5-0E5A-444E-8E11-A1BCEC26AE88}" srcOrd="0" destOrd="0" presId="urn:microsoft.com/office/officeart/2005/8/layout/vList2"/>
    <dgm:cxn modelId="{9A31D250-52E2-4862-863B-715B6FA60BA7}" srcId="{D975BC15-CE90-4E9F-850A-C1363C127C29}" destId="{2255EAE7-12B4-4A42-B266-6E6ED46AAD22}" srcOrd="0" destOrd="0" parTransId="{40C8CF26-AAF2-4FD0-B2D0-B8ECD6981CD6}" sibTransId="{3FDA1DA2-261A-45D4-B029-CD97D9083308}"/>
    <dgm:cxn modelId="{25273258-A337-47F4-912B-D7DCA7E8CFAA}" type="presOf" srcId="{5426698B-D24F-49E9-B4C2-50ECC5E553F6}" destId="{A67C6E17-5562-4A88-9988-BD6D1AECB84E}" srcOrd="0" destOrd="0" presId="urn:microsoft.com/office/officeart/2005/8/layout/vList2"/>
    <dgm:cxn modelId="{CFB0807A-BFF3-4ACB-AB6C-F9EF78ED9043}" srcId="{1831DFFF-392C-4130-BCB1-B2941FA558B4}" destId="{CDA60086-8F56-4A3F-8F50-F9845C7CEA2F}" srcOrd="2" destOrd="0" parTransId="{5FE3C928-A9EF-4237-BB18-14B45E85440A}" sibTransId="{61E40220-47FE-4BDB-A770-5474145F266D}"/>
    <dgm:cxn modelId="{E9998C7A-124B-4D19-84AF-03D18D66E111}" type="presOf" srcId="{F90FE1B9-8B83-4459-9B50-EA667054E7BD}" destId="{A6016516-71CF-49B9-B21D-FCFBEF2E951D}" srcOrd="0" destOrd="0" presId="urn:microsoft.com/office/officeart/2005/8/layout/vList2"/>
    <dgm:cxn modelId="{E9A0DD85-0981-46D6-8B56-1BF069679D93}" type="presOf" srcId="{D975BC15-CE90-4E9F-850A-C1363C127C29}" destId="{B0557DDB-E47B-48A7-8749-FC5923D6A55F}" srcOrd="0" destOrd="0" presId="urn:microsoft.com/office/officeart/2005/8/layout/vList2"/>
    <dgm:cxn modelId="{417312BE-FEAF-46C6-B92B-2E3BBDC7105D}" type="presOf" srcId="{4E5F204F-DEDA-476B-ACB4-2B5499422B42}" destId="{046570D6-F587-4C27-BC52-238D9DD429FA}" srcOrd="0" destOrd="0" presId="urn:microsoft.com/office/officeart/2005/8/layout/vList2"/>
    <dgm:cxn modelId="{1F6F7BD7-F659-477E-B48D-3E4785091AC1}" srcId="{1831DFFF-392C-4130-BCB1-B2941FA558B4}" destId="{4E5F204F-DEDA-476B-ACB4-2B5499422B42}" srcOrd="1" destOrd="0" parTransId="{8163DDCF-5F86-44B3-9205-4F95ECA556EA}" sibTransId="{68FD915D-0E4A-4D68-BEC3-76B2126048AB}"/>
    <dgm:cxn modelId="{4DAB2AEA-4588-4DF1-BAA6-55F48949F49C}" srcId="{F90FE1B9-8B83-4459-9B50-EA667054E7BD}" destId="{C493F0A9-23EE-4A31-98C7-8E74E14E8EA9}" srcOrd="0" destOrd="0" parTransId="{A4A1FF28-F4A8-49E9-A2D9-BF5796D0031B}" sibTransId="{998D33C3-1301-4ABB-8DCE-32B5B0BA8980}"/>
    <dgm:cxn modelId="{78D870FC-6306-4197-973A-67132C67B0EC}" srcId="{1831DFFF-392C-4130-BCB1-B2941FA558B4}" destId="{D975BC15-CE90-4E9F-850A-C1363C127C29}" srcOrd="0" destOrd="0" parTransId="{B9D70619-D751-4D9F-880F-58FF1E670A55}" sibTransId="{38D9E089-5E3F-482C-9119-356A877DC70E}"/>
    <dgm:cxn modelId="{5B7D7878-7FEC-4F15-BD84-B1D8DCC45290}" type="presParOf" srcId="{F97601C5-3DBE-45DC-9753-32451B4FBCFF}" destId="{B0557DDB-E47B-48A7-8749-FC5923D6A55F}" srcOrd="0" destOrd="0" presId="urn:microsoft.com/office/officeart/2005/8/layout/vList2"/>
    <dgm:cxn modelId="{BD99E487-341A-41AF-924E-C9EF38C774BD}" type="presParOf" srcId="{F97601C5-3DBE-45DC-9753-32451B4FBCFF}" destId="{7C857BA5-0E5A-444E-8E11-A1BCEC26AE88}" srcOrd="1" destOrd="0" presId="urn:microsoft.com/office/officeart/2005/8/layout/vList2"/>
    <dgm:cxn modelId="{589A21EC-4062-4169-8F7B-5B7D3A26E378}" type="presParOf" srcId="{F97601C5-3DBE-45DC-9753-32451B4FBCFF}" destId="{046570D6-F587-4C27-BC52-238D9DD429FA}" srcOrd="2" destOrd="0" presId="urn:microsoft.com/office/officeart/2005/8/layout/vList2"/>
    <dgm:cxn modelId="{BC5EF863-545B-4BC2-9E1C-9CE1B45D52D6}" type="presParOf" srcId="{F97601C5-3DBE-45DC-9753-32451B4FBCFF}" destId="{A67C6E17-5562-4A88-9988-BD6D1AECB84E}" srcOrd="3" destOrd="0" presId="urn:microsoft.com/office/officeart/2005/8/layout/vList2"/>
    <dgm:cxn modelId="{83AB492B-27F9-4453-9409-8BCB9CB86690}" type="presParOf" srcId="{F97601C5-3DBE-45DC-9753-32451B4FBCFF}" destId="{817F51F5-1396-44BF-B067-795ED8EA5F8E}" srcOrd="4" destOrd="0" presId="urn:microsoft.com/office/officeart/2005/8/layout/vList2"/>
    <dgm:cxn modelId="{1376E221-8985-4916-8B96-F04AA2D953E3}" type="presParOf" srcId="{F97601C5-3DBE-45DC-9753-32451B4FBCFF}" destId="{0EC83E69-6B61-4654-A816-0963BAEC1F80}" srcOrd="5" destOrd="0" presId="urn:microsoft.com/office/officeart/2005/8/layout/vList2"/>
    <dgm:cxn modelId="{A68440C2-784F-4253-92A9-25F4B70D61F2}" type="presParOf" srcId="{F97601C5-3DBE-45DC-9753-32451B4FBCFF}" destId="{A6016516-71CF-49B9-B21D-FCFBEF2E951D}" srcOrd="6" destOrd="0" presId="urn:microsoft.com/office/officeart/2005/8/layout/vList2"/>
    <dgm:cxn modelId="{4B56D672-1B63-4CFB-A15B-A40387EC5378}" type="presParOf" srcId="{F97601C5-3DBE-45DC-9753-32451B4FBCFF}" destId="{EEABD862-64B4-47E0-89C3-29CB822DE34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31DFFF-392C-4130-BCB1-B2941FA558B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75BC15-CE90-4E9F-850A-C1363C127C29}">
      <dgm:prSet phldrT="[Text]"/>
      <dgm:spPr/>
      <dgm:t>
        <a:bodyPr/>
        <a:lstStyle/>
        <a:p>
          <a:pPr>
            <a:buNone/>
          </a:pPr>
          <a:r>
            <a:rPr lang="en-US" dirty="0"/>
            <a:t>5. Correlate</a:t>
          </a:r>
        </a:p>
      </dgm:t>
    </dgm:pt>
    <dgm:pt modelId="{B9D70619-D751-4D9F-880F-58FF1E670A55}" type="parTrans" cxnId="{78D870FC-6306-4197-973A-67132C67B0EC}">
      <dgm:prSet/>
      <dgm:spPr/>
      <dgm:t>
        <a:bodyPr/>
        <a:lstStyle/>
        <a:p>
          <a:endParaRPr lang="en-US"/>
        </a:p>
      </dgm:t>
    </dgm:pt>
    <dgm:pt modelId="{38D9E089-5E3F-482C-9119-356A877DC70E}" type="sibTrans" cxnId="{78D870FC-6306-4197-973A-67132C67B0EC}">
      <dgm:prSet/>
      <dgm:spPr/>
      <dgm:t>
        <a:bodyPr/>
        <a:lstStyle/>
        <a:p>
          <a:endParaRPr lang="en-US"/>
        </a:p>
      </dgm:t>
    </dgm:pt>
    <dgm:pt modelId="{2255EAE7-12B4-4A42-B266-6E6ED46AAD22}">
      <dgm:prSet phldrT="[Text]"/>
      <dgm:spPr/>
      <dgm:t>
        <a:bodyPr/>
        <a:lstStyle/>
        <a:p>
          <a:pPr>
            <a:buNone/>
          </a:pPr>
          <a:r>
            <a:rPr lang="en-US" dirty="0"/>
            <a:t>Build a timeline and correlate findings across files, registry records, logs, and devices.</a:t>
          </a:r>
        </a:p>
      </dgm:t>
    </dgm:pt>
    <dgm:pt modelId="{40C8CF26-AAF2-4FD0-B2D0-B8ECD6981CD6}" type="parTrans" cxnId="{9A31D250-52E2-4862-863B-715B6FA60BA7}">
      <dgm:prSet/>
      <dgm:spPr/>
      <dgm:t>
        <a:bodyPr/>
        <a:lstStyle/>
        <a:p>
          <a:endParaRPr lang="en-US"/>
        </a:p>
      </dgm:t>
    </dgm:pt>
    <dgm:pt modelId="{3FDA1DA2-261A-45D4-B029-CD97D9083308}" type="sibTrans" cxnId="{9A31D250-52E2-4862-863B-715B6FA60BA7}">
      <dgm:prSet/>
      <dgm:spPr/>
      <dgm:t>
        <a:bodyPr/>
        <a:lstStyle/>
        <a:p>
          <a:endParaRPr lang="en-US"/>
        </a:p>
      </dgm:t>
    </dgm:pt>
    <dgm:pt modelId="{4E5F204F-DEDA-476B-ACB4-2B5499422B42}">
      <dgm:prSet phldrT="[Text]"/>
      <dgm:spPr/>
      <dgm:t>
        <a:bodyPr/>
        <a:lstStyle/>
        <a:p>
          <a:pPr>
            <a:buNone/>
          </a:pPr>
          <a:r>
            <a:rPr lang="en-US" dirty="0"/>
            <a:t>6. Validate</a:t>
          </a:r>
        </a:p>
      </dgm:t>
    </dgm:pt>
    <dgm:pt modelId="{8163DDCF-5F86-44B3-9205-4F95ECA556EA}" type="parTrans" cxnId="{1F6F7BD7-F659-477E-B48D-3E4785091AC1}">
      <dgm:prSet/>
      <dgm:spPr/>
      <dgm:t>
        <a:bodyPr/>
        <a:lstStyle/>
        <a:p>
          <a:endParaRPr lang="en-US"/>
        </a:p>
      </dgm:t>
    </dgm:pt>
    <dgm:pt modelId="{68FD915D-0E4A-4D68-BEC3-76B2126048AB}" type="sibTrans" cxnId="{1F6F7BD7-F659-477E-B48D-3E4785091AC1}">
      <dgm:prSet/>
      <dgm:spPr/>
      <dgm:t>
        <a:bodyPr/>
        <a:lstStyle/>
        <a:p>
          <a:endParaRPr lang="en-US"/>
        </a:p>
      </dgm:t>
    </dgm:pt>
    <dgm:pt modelId="{5426698B-D24F-49E9-B4C2-50ECC5E553F6}">
      <dgm:prSet phldrT="[Text]"/>
      <dgm:spPr/>
      <dgm:t>
        <a:bodyPr/>
        <a:lstStyle/>
        <a:p>
          <a:pPr>
            <a:buNone/>
          </a:pPr>
          <a:r>
            <a:rPr lang="en-US" dirty="0"/>
            <a:t>Recheck important findings, confirm hashes, and document alternative explanations.</a:t>
          </a:r>
        </a:p>
      </dgm:t>
    </dgm:pt>
    <dgm:pt modelId="{0787B157-58DD-46CB-96B1-49EC0BC8C11A}" type="parTrans" cxnId="{7085CF2A-BF79-4A89-A96B-02C864F96E7E}">
      <dgm:prSet/>
      <dgm:spPr/>
      <dgm:t>
        <a:bodyPr/>
        <a:lstStyle/>
        <a:p>
          <a:endParaRPr lang="en-US"/>
        </a:p>
      </dgm:t>
    </dgm:pt>
    <dgm:pt modelId="{999C534D-B91D-4831-9A52-93A898EA1A53}" type="sibTrans" cxnId="{7085CF2A-BF79-4A89-A96B-02C864F96E7E}">
      <dgm:prSet/>
      <dgm:spPr/>
      <dgm:t>
        <a:bodyPr/>
        <a:lstStyle/>
        <a:p>
          <a:endParaRPr lang="en-US"/>
        </a:p>
      </dgm:t>
    </dgm:pt>
    <dgm:pt modelId="{CDA60086-8F56-4A3F-8F50-F9845C7CEA2F}">
      <dgm:prSet phldrT="[Text]"/>
      <dgm:spPr/>
      <dgm:t>
        <a:bodyPr/>
        <a:lstStyle/>
        <a:p>
          <a:pPr>
            <a:buNone/>
          </a:pPr>
          <a:r>
            <a:rPr lang="en-US" dirty="0"/>
            <a:t>7. Report</a:t>
          </a:r>
        </a:p>
      </dgm:t>
    </dgm:pt>
    <dgm:pt modelId="{5FE3C928-A9EF-4237-BB18-14B45E85440A}" type="parTrans" cxnId="{CFB0807A-BFF3-4ACB-AB6C-F9EF78ED9043}">
      <dgm:prSet/>
      <dgm:spPr/>
      <dgm:t>
        <a:bodyPr/>
        <a:lstStyle/>
        <a:p>
          <a:endParaRPr lang="en-US"/>
        </a:p>
      </dgm:t>
    </dgm:pt>
    <dgm:pt modelId="{61E40220-47FE-4BDB-A770-5474145F266D}" type="sibTrans" cxnId="{CFB0807A-BFF3-4ACB-AB6C-F9EF78ED9043}">
      <dgm:prSet/>
      <dgm:spPr/>
      <dgm:t>
        <a:bodyPr/>
        <a:lstStyle/>
        <a:p>
          <a:endParaRPr lang="en-US"/>
        </a:p>
      </dgm:t>
    </dgm:pt>
    <dgm:pt modelId="{44626C79-73FC-4D6C-8518-64F318896A58}">
      <dgm:prSet phldrT="[Text]"/>
      <dgm:spPr/>
      <dgm:t>
        <a:bodyPr/>
        <a:lstStyle/>
        <a:p>
          <a:pPr>
            <a:buNone/>
          </a:pPr>
          <a:r>
            <a:rPr lang="en-US" dirty="0"/>
            <a:t>Present evidence, timestamps, methods, limitations, and conclusions with supporting </a:t>
          </a:r>
          <a:r>
            <a:rPr lang="en-US"/>
            <a:t>references.</a:t>
          </a:r>
          <a:endParaRPr lang="en-US" dirty="0"/>
        </a:p>
      </dgm:t>
    </dgm:pt>
    <dgm:pt modelId="{8C83D5D2-5320-4A80-B2F1-9E97D31E32CD}" type="parTrans" cxnId="{02077043-08A2-4066-9620-61EE3A25E465}">
      <dgm:prSet/>
      <dgm:spPr/>
      <dgm:t>
        <a:bodyPr/>
        <a:lstStyle/>
        <a:p>
          <a:endParaRPr lang="en-US"/>
        </a:p>
      </dgm:t>
    </dgm:pt>
    <dgm:pt modelId="{AD019ED3-AE4B-4E56-8955-599D9E1CF644}" type="sibTrans" cxnId="{02077043-08A2-4066-9620-61EE3A25E465}">
      <dgm:prSet/>
      <dgm:spPr/>
      <dgm:t>
        <a:bodyPr/>
        <a:lstStyle/>
        <a:p>
          <a:endParaRPr lang="en-US"/>
        </a:p>
      </dgm:t>
    </dgm:pt>
    <dgm:pt modelId="{F97601C5-3DBE-45DC-9753-32451B4FBCFF}" type="pres">
      <dgm:prSet presAssocID="{1831DFFF-392C-4130-BCB1-B2941FA558B4}" presName="linear" presStyleCnt="0">
        <dgm:presLayoutVars>
          <dgm:animLvl val="lvl"/>
          <dgm:resizeHandles val="exact"/>
        </dgm:presLayoutVars>
      </dgm:prSet>
      <dgm:spPr/>
    </dgm:pt>
    <dgm:pt modelId="{B0557DDB-E47B-48A7-8749-FC5923D6A55F}" type="pres">
      <dgm:prSet presAssocID="{D975BC15-CE90-4E9F-850A-C1363C127C2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C857BA5-0E5A-444E-8E11-A1BCEC26AE88}" type="pres">
      <dgm:prSet presAssocID="{D975BC15-CE90-4E9F-850A-C1363C127C29}" presName="childText" presStyleLbl="revTx" presStyleIdx="0" presStyleCnt="3">
        <dgm:presLayoutVars>
          <dgm:bulletEnabled val="1"/>
        </dgm:presLayoutVars>
      </dgm:prSet>
      <dgm:spPr/>
    </dgm:pt>
    <dgm:pt modelId="{046570D6-F587-4C27-BC52-238D9DD429FA}" type="pres">
      <dgm:prSet presAssocID="{4E5F204F-DEDA-476B-ACB4-2B5499422B4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67C6E17-5562-4A88-9988-BD6D1AECB84E}" type="pres">
      <dgm:prSet presAssocID="{4E5F204F-DEDA-476B-ACB4-2B5499422B42}" presName="childText" presStyleLbl="revTx" presStyleIdx="1" presStyleCnt="3">
        <dgm:presLayoutVars>
          <dgm:bulletEnabled val="1"/>
        </dgm:presLayoutVars>
      </dgm:prSet>
      <dgm:spPr/>
    </dgm:pt>
    <dgm:pt modelId="{817F51F5-1396-44BF-B067-795ED8EA5F8E}" type="pres">
      <dgm:prSet presAssocID="{CDA60086-8F56-4A3F-8F50-F9845C7CEA2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EC83E69-6B61-4654-A816-0963BAEC1F80}" type="pres">
      <dgm:prSet presAssocID="{CDA60086-8F56-4A3F-8F50-F9845C7CEA2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5CECA04-2B36-4640-B52E-6CC850B3EC94}" type="presOf" srcId="{44626C79-73FC-4D6C-8518-64F318896A58}" destId="{0EC83E69-6B61-4654-A816-0963BAEC1F80}" srcOrd="0" destOrd="0" presId="urn:microsoft.com/office/officeart/2005/8/layout/vList2"/>
    <dgm:cxn modelId="{BE29B513-21B0-476F-94C9-9B9EE7925BE4}" type="presOf" srcId="{1831DFFF-392C-4130-BCB1-B2941FA558B4}" destId="{F97601C5-3DBE-45DC-9753-32451B4FBCFF}" srcOrd="0" destOrd="0" presId="urn:microsoft.com/office/officeart/2005/8/layout/vList2"/>
    <dgm:cxn modelId="{7085CF2A-BF79-4A89-A96B-02C864F96E7E}" srcId="{4E5F204F-DEDA-476B-ACB4-2B5499422B42}" destId="{5426698B-D24F-49E9-B4C2-50ECC5E553F6}" srcOrd="0" destOrd="0" parTransId="{0787B157-58DD-46CB-96B1-49EC0BC8C11A}" sibTransId="{999C534D-B91D-4831-9A52-93A898EA1A53}"/>
    <dgm:cxn modelId="{02077043-08A2-4066-9620-61EE3A25E465}" srcId="{CDA60086-8F56-4A3F-8F50-F9845C7CEA2F}" destId="{44626C79-73FC-4D6C-8518-64F318896A58}" srcOrd="0" destOrd="0" parTransId="{8C83D5D2-5320-4A80-B2F1-9E97D31E32CD}" sibTransId="{AD019ED3-AE4B-4E56-8955-599D9E1CF644}"/>
    <dgm:cxn modelId="{9A31D250-52E2-4862-863B-715B6FA60BA7}" srcId="{D975BC15-CE90-4E9F-850A-C1363C127C29}" destId="{2255EAE7-12B4-4A42-B266-6E6ED46AAD22}" srcOrd="0" destOrd="0" parTransId="{40C8CF26-AAF2-4FD0-B2D0-B8ECD6981CD6}" sibTransId="{3FDA1DA2-261A-45D4-B029-CD97D9083308}"/>
    <dgm:cxn modelId="{CFB0807A-BFF3-4ACB-AB6C-F9EF78ED9043}" srcId="{1831DFFF-392C-4130-BCB1-B2941FA558B4}" destId="{CDA60086-8F56-4A3F-8F50-F9845C7CEA2F}" srcOrd="2" destOrd="0" parTransId="{5FE3C928-A9EF-4237-BB18-14B45E85440A}" sibTransId="{61E40220-47FE-4BDB-A770-5474145F266D}"/>
    <dgm:cxn modelId="{03F47C89-A7C4-4DD3-A438-5F6C26515AFF}" type="presOf" srcId="{D975BC15-CE90-4E9F-850A-C1363C127C29}" destId="{B0557DDB-E47B-48A7-8749-FC5923D6A55F}" srcOrd="0" destOrd="0" presId="urn:microsoft.com/office/officeart/2005/8/layout/vList2"/>
    <dgm:cxn modelId="{6192B691-7157-4401-8295-DB79E91C5BF4}" type="presOf" srcId="{5426698B-D24F-49E9-B4C2-50ECC5E553F6}" destId="{A67C6E17-5562-4A88-9988-BD6D1AECB84E}" srcOrd="0" destOrd="0" presId="urn:microsoft.com/office/officeart/2005/8/layout/vList2"/>
    <dgm:cxn modelId="{036CEEB0-BD46-4835-A881-0C25C33D59E9}" type="presOf" srcId="{2255EAE7-12B4-4A42-B266-6E6ED46AAD22}" destId="{7C857BA5-0E5A-444E-8E11-A1BCEC26AE88}" srcOrd="0" destOrd="0" presId="urn:microsoft.com/office/officeart/2005/8/layout/vList2"/>
    <dgm:cxn modelId="{1F6F7BD7-F659-477E-B48D-3E4785091AC1}" srcId="{1831DFFF-392C-4130-BCB1-B2941FA558B4}" destId="{4E5F204F-DEDA-476B-ACB4-2B5499422B42}" srcOrd="1" destOrd="0" parTransId="{8163DDCF-5F86-44B3-9205-4F95ECA556EA}" sibTransId="{68FD915D-0E4A-4D68-BEC3-76B2126048AB}"/>
    <dgm:cxn modelId="{553959E9-801E-41B3-ADB5-E387A725041B}" type="presOf" srcId="{CDA60086-8F56-4A3F-8F50-F9845C7CEA2F}" destId="{817F51F5-1396-44BF-B067-795ED8EA5F8E}" srcOrd="0" destOrd="0" presId="urn:microsoft.com/office/officeart/2005/8/layout/vList2"/>
    <dgm:cxn modelId="{D0ADD0EE-943C-4C40-B6CB-3B84DF0B99CF}" type="presOf" srcId="{4E5F204F-DEDA-476B-ACB4-2B5499422B42}" destId="{046570D6-F587-4C27-BC52-238D9DD429FA}" srcOrd="0" destOrd="0" presId="urn:microsoft.com/office/officeart/2005/8/layout/vList2"/>
    <dgm:cxn modelId="{78D870FC-6306-4197-973A-67132C67B0EC}" srcId="{1831DFFF-392C-4130-BCB1-B2941FA558B4}" destId="{D975BC15-CE90-4E9F-850A-C1363C127C29}" srcOrd="0" destOrd="0" parTransId="{B9D70619-D751-4D9F-880F-58FF1E670A55}" sibTransId="{38D9E089-5E3F-482C-9119-356A877DC70E}"/>
    <dgm:cxn modelId="{42813E46-EF2F-4940-8531-159D309764C4}" type="presParOf" srcId="{F97601C5-3DBE-45DC-9753-32451B4FBCFF}" destId="{B0557DDB-E47B-48A7-8749-FC5923D6A55F}" srcOrd="0" destOrd="0" presId="urn:microsoft.com/office/officeart/2005/8/layout/vList2"/>
    <dgm:cxn modelId="{7C749836-40FA-494A-BFAA-98CEF204FE57}" type="presParOf" srcId="{F97601C5-3DBE-45DC-9753-32451B4FBCFF}" destId="{7C857BA5-0E5A-444E-8E11-A1BCEC26AE88}" srcOrd="1" destOrd="0" presId="urn:microsoft.com/office/officeart/2005/8/layout/vList2"/>
    <dgm:cxn modelId="{51487B3D-7AB1-4831-9138-459E85D4E010}" type="presParOf" srcId="{F97601C5-3DBE-45DC-9753-32451B4FBCFF}" destId="{046570D6-F587-4C27-BC52-238D9DD429FA}" srcOrd="2" destOrd="0" presId="urn:microsoft.com/office/officeart/2005/8/layout/vList2"/>
    <dgm:cxn modelId="{650D1181-ACD4-458A-BCBC-69795F36B7A7}" type="presParOf" srcId="{F97601C5-3DBE-45DC-9753-32451B4FBCFF}" destId="{A67C6E17-5562-4A88-9988-BD6D1AECB84E}" srcOrd="3" destOrd="0" presId="urn:microsoft.com/office/officeart/2005/8/layout/vList2"/>
    <dgm:cxn modelId="{9356AA80-AEE7-4D83-8521-E8F33B3723AF}" type="presParOf" srcId="{F97601C5-3DBE-45DC-9753-32451B4FBCFF}" destId="{817F51F5-1396-44BF-B067-795ED8EA5F8E}" srcOrd="4" destOrd="0" presId="urn:microsoft.com/office/officeart/2005/8/layout/vList2"/>
    <dgm:cxn modelId="{BC18028B-E9C4-44AE-8096-B1AFD4DC80E7}" type="presParOf" srcId="{F97601C5-3DBE-45DC-9753-32451B4FBCFF}" destId="{0EC83E69-6B61-4654-A816-0963BAEC1F8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557DDB-E47B-48A7-8749-FC5923D6A55F}">
      <dsp:nvSpPr>
        <dsp:cNvPr id="0" name=""/>
        <dsp:cNvSpPr/>
      </dsp:nvSpPr>
      <dsp:spPr>
        <a:xfrm>
          <a:off x="0" y="67328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1. Preserve</a:t>
          </a:r>
        </a:p>
      </dsp:txBody>
      <dsp:txXfrm>
        <a:off x="30442" y="97770"/>
        <a:ext cx="10454716" cy="562726"/>
      </dsp:txXfrm>
    </dsp:sp>
    <dsp:sp modelId="{7C857BA5-0E5A-444E-8E11-A1BCEC26AE88}">
      <dsp:nvSpPr>
        <dsp:cNvPr id="0" name=""/>
        <dsp:cNvSpPr/>
      </dsp:nvSpPr>
      <dsp:spPr>
        <a:xfrm>
          <a:off x="0" y="690938"/>
          <a:ext cx="10515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/>
            <a:t>Verify the image, calculate hashes, and document evidence handling.</a:t>
          </a:r>
        </a:p>
      </dsp:txBody>
      <dsp:txXfrm>
        <a:off x="0" y="690938"/>
        <a:ext cx="10515600" cy="430560"/>
      </dsp:txXfrm>
    </dsp:sp>
    <dsp:sp modelId="{046570D6-F587-4C27-BC52-238D9DD429FA}">
      <dsp:nvSpPr>
        <dsp:cNvPr id="0" name=""/>
        <dsp:cNvSpPr/>
      </dsp:nvSpPr>
      <dsp:spPr>
        <a:xfrm>
          <a:off x="0" y="1121499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2. Identify</a:t>
          </a:r>
        </a:p>
      </dsp:txBody>
      <dsp:txXfrm>
        <a:off x="30442" y="1151941"/>
        <a:ext cx="10454716" cy="562726"/>
      </dsp:txXfrm>
    </dsp:sp>
    <dsp:sp modelId="{A67C6E17-5562-4A88-9988-BD6D1AECB84E}">
      <dsp:nvSpPr>
        <dsp:cNvPr id="0" name=""/>
        <dsp:cNvSpPr/>
      </dsp:nvSpPr>
      <dsp:spPr>
        <a:xfrm>
          <a:off x="0" y="1745109"/>
          <a:ext cx="10515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/>
            <a:t>Determine the image format, partitions, file systems, and operating system.</a:t>
          </a:r>
        </a:p>
      </dsp:txBody>
      <dsp:txXfrm>
        <a:off x="0" y="1745109"/>
        <a:ext cx="10515600" cy="430560"/>
      </dsp:txXfrm>
    </dsp:sp>
    <dsp:sp modelId="{817F51F5-1396-44BF-B067-795ED8EA5F8E}">
      <dsp:nvSpPr>
        <dsp:cNvPr id="0" name=""/>
        <dsp:cNvSpPr/>
      </dsp:nvSpPr>
      <dsp:spPr>
        <a:xfrm>
          <a:off x="0" y="2175669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3. Extract</a:t>
          </a:r>
        </a:p>
      </dsp:txBody>
      <dsp:txXfrm>
        <a:off x="30442" y="2206111"/>
        <a:ext cx="10454716" cy="562726"/>
      </dsp:txXfrm>
    </dsp:sp>
    <dsp:sp modelId="{0EC83E69-6B61-4654-A816-0963BAEC1F80}">
      <dsp:nvSpPr>
        <dsp:cNvPr id="0" name=""/>
        <dsp:cNvSpPr/>
      </dsp:nvSpPr>
      <dsp:spPr>
        <a:xfrm>
          <a:off x="0" y="2799279"/>
          <a:ext cx="10515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/>
            <a:t>Enumerate files, metadata, deleted records, and relevant system artifacts.</a:t>
          </a:r>
          <a:endParaRPr lang="en-US" sz="2000" kern="1200" dirty="0"/>
        </a:p>
      </dsp:txBody>
      <dsp:txXfrm>
        <a:off x="0" y="2799279"/>
        <a:ext cx="10515600" cy="430560"/>
      </dsp:txXfrm>
    </dsp:sp>
    <dsp:sp modelId="{A6016516-71CF-49B9-B21D-FCFBEF2E951D}">
      <dsp:nvSpPr>
        <dsp:cNvPr id="0" name=""/>
        <dsp:cNvSpPr/>
      </dsp:nvSpPr>
      <dsp:spPr>
        <a:xfrm>
          <a:off x="0" y="3229839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4. Search</a:t>
          </a:r>
        </a:p>
      </dsp:txBody>
      <dsp:txXfrm>
        <a:off x="30442" y="3260281"/>
        <a:ext cx="10454716" cy="562726"/>
      </dsp:txXfrm>
    </dsp:sp>
    <dsp:sp modelId="{EEABD862-64B4-47E0-89C3-29CB822DE34C}">
      <dsp:nvSpPr>
        <dsp:cNvPr id="0" name=""/>
        <dsp:cNvSpPr/>
      </dsp:nvSpPr>
      <dsp:spPr>
        <a:xfrm>
          <a:off x="0" y="3853449"/>
          <a:ext cx="10515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/>
            <a:t>Perform keyword searches, file-signature analysis, carving, and targeted artifact examination.</a:t>
          </a:r>
          <a:endParaRPr lang="en-US" sz="2000" kern="1200" dirty="0"/>
        </a:p>
      </dsp:txBody>
      <dsp:txXfrm>
        <a:off x="0" y="3853449"/>
        <a:ext cx="10515600" cy="4305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557DDB-E47B-48A7-8749-FC5923D6A55F}">
      <dsp:nvSpPr>
        <dsp:cNvPr id="0" name=""/>
        <dsp:cNvSpPr/>
      </dsp:nvSpPr>
      <dsp:spPr>
        <a:xfrm>
          <a:off x="0" y="1831"/>
          <a:ext cx="10515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5. Correlate</a:t>
          </a:r>
        </a:p>
      </dsp:txBody>
      <dsp:txXfrm>
        <a:off x="35125" y="36956"/>
        <a:ext cx="10445350" cy="649299"/>
      </dsp:txXfrm>
    </dsp:sp>
    <dsp:sp modelId="{7C857BA5-0E5A-444E-8E11-A1BCEC26AE88}">
      <dsp:nvSpPr>
        <dsp:cNvPr id="0" name=""/>
        <dsp:cNvSpPr/>
      </dsp:nvSpPr>
      <dsp:spPr>
        <a:xfrm>
          <a:off x="0" y="721381"/>
          <a:ext cx="10515600" cy="729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300" kern="1200" dirty="0"/>
            <a:t>Build a timeline and correlate findings across files, registry records, logs, and devices.</a:t>
          </a:r>
        </a:p>
      </dsp:txBody>
      <dsp:txXfrm>
        <a:off x="0" y="721381"/>
        <a:ext cx="10515600" cy="729675"/>
      </dsp:txXfrm>
    </dsp:sp>
    <dsp:sp modelId="{046570D6-F587-4C27-BC52-238D9DD429FA}">
      <dsp:nvSpPr>
        <dsp:cNvPr id="0" name=""/>
        <dsp:cNvSpPr/>
      </dsp:nvSpPr>
      <dsp:spPr>
        <a:xfrm>
          <a:off x="0" y="1451056"/>
          <a:ext cx="10515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6. Validate</a:t>
          </a:r>
        </a:p>
      </dsp:txBody>
      <dsp:txXfrm>
        <a:off x="35125" y="1486181"/>
        <a:ext cx="10445350" cy="649299"/>
      </dsp:txXfrm>
    </dsp:sp>
    <dsp:sp modelId="{A67C6E17-5562-4A88-9988-BD6D1AECB84E}">
      <dsp:nvSpPr>
        <dsp:cNvPr id="0" name=""/>
        <dsp:cNvSpPr/>
      </dsp:nvSpPr>
      <dsp:spPr>
        <a:xfrm>
          <a:off x="0" y="2170606"/>
          <a:ext cx="10515600" cy="729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300" kern="1200" dirty="0"/>
            <a:t>Recheck important findings, confirm hashes, and document alternative explanations.</a:t>
          </a:r>
        </a:p>
      </dsp:txBody>
      <dsp:txXfrm>
        <a:off x="0" y="2170606"/>
        <a:ext cx="10515600" cy="729675"/>
      </dsp:txXfrm>
    </dsp:sp>
    <dsp:sp modelId="{817F51F5-1396-44BF-B067-795ED8EA5F8E}">
      <dsp:nvSpPr>
        <dsp:cNvPr id="0" name=""/>
        <dsp:cNvSpPr/>
      </dsp:nvSpPr>
      <dsp:spPr>
        <a:xfrm>
          <a:off x="0" y="2900281"/>
          <a:ext cx="10515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7. Report</a:t>
          </a:r>
        </a:p>
      </dsp:txBody>
      <dsp:txXfrm>
        <a:off x="35125" y="2935406"/>
        <a:ext cx="10445350" cy="649299"/>
      </dsp:txXfrm>
    </dsp:sp>
    <dsp:sp modelId="{0EC83E69-6B61-4654-A816-0963BAEC1F80}">
      <dsp:nvSpPr>
        <dsp:cNvPr id="0" name=""/>
        <dsp:cNvSpPr/>
      </dsp:nvSpPr>
      <dsp:spPr>
        <a:xfrm>
          <a:off x="0" y="3619831"/>
          <a:ext cx="10515600" cy="729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300" kern="1200" dirty="0"/>
            <a:t>Present evidence, timestamps, methods, limitations, and conclusions with supporting </a:t>
          </a:r>
          <a:r>
            <a:rPr lang="en-US" sz="2300" kern="1200"/>
            <a:t>references.</a:t>
          </a:r>
          <a:endParaRPr lang="en-US" sz="2300" kern="1200" dirty="0"/>
        </a:p>
      </dsp:txBody>
      <dsp:txXfrm>
        <a:off x="0" y="3619831"/>
        <a:ext cx="10515600" cy="729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2619C-2690-A18E-FDD8-6CE18BDF0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D58A3-A6BB-13B8-5192-3114EBF71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8D576-DF91-5A7C-1EE6-C756018A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8D786-A4A2-4B11-BC08-765D96B3E12B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D933C-4152-F823-D0C5-7B3EAB23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D04AD-1DF4-522B-16A7-973E2301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A183-5FC6-40AB-B969-DDE8B5D10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0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E9C7-6E9C-AA17-1748-AC4346042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69246-2417-704D-E5E7-55804BC2E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0D6ED-328D-AA8E-76C9-4A631A60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8D786-A4A2-4B11-BC08-765D96B3E12B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7D2CE-189A-385C-C02D-ADB6D8B4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DCA68-EF36-2293-38ED-FA653EA35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A183-5FC6-40AB-B969-DDE8B5D10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6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EBFD7-DD93-7D43-E8A4-A05C688AC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35C69-1508-7C08-4F6B-5E8BC90D4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9E9DE-517E-BAAD-FC4E-E1B0F834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8D786-A4A2-4B11-BC08-765D96B3E12B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5EF2-DE1E-96C2-5D2E-4C2E4F848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3B43C-B865-562C-39A6-B83A2206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A183-5FC6-40AB-B969-DDE8B5D10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6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129D-5A58-1EC7-4DE4-96AE243A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DF493-77E1-6ABC-7971-A2057AC73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F51EF-0B53-5AC0-0E3E-0C50883DA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1DE5E-71AE-7AC1-CEA0-A4270EA1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8D786-A4A2-4B11-BC08-765D96B3E12B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99CB5-F42B-DC3E-5DE3-C1E03D8FB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052A6-8BD2-D6E7-BDFB-A02F82284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A183-5FC6-40AB-B969-DDE8B5D10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55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9BCA1-4D0B-12A3-3E33-44C999D01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0693D-24C3-1658-EC4A-C60B895B2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CACC0-C9AB-F018-DB25-98451BA70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8AB190-3733-B7FF-FA9F-877DD8C87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252DB3-1A25-1E85-7C26-F2F356291D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8125D1-F9DC-6A9E-CCDC-B9D4526DA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8D786-A4A2-4B11-BC08-765D96B3E12B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2D4FB2-36FE-EE35-DE65-A2CAEB718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826A24-93B4-722E-01F2-AD4EF388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A183-5FC6-40AB-B969-DDE8B5D10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43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2934F-30DA-5049-E6C1-56D649B1A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E3C1B2-7A6A-AFF2-41B8-1372DD2F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8D786-A4A2-4B11-BC08-765D96B3E12B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F34305-DD90-891F-6E88-3D5148900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6D1658-6BD3-FB73-1DD9-3EBA0164D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A183-5FC6-40AB-B969-DDE8B5D10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12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CC6B1A-2529-7AD0-3D38-A035F6AAA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8D786-A4A2-4B11-BC08-765D96B3E12B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84DDFD-BF1E-CBF1-9C11-33ACB99E0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B89E2-7B3C-BA7E-AF52-A2A71C674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A183-5FC6-40AB-B969-DDE8B5D10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3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BD48-97E4-9E26-2892-8D9A596A3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98FFF-31C0-6EB8-C4AB-1FB5BFBFE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C7DB5-69A4-0DD9-BE18-AF2D9801B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42142-B678-2FAF-52E6-AFC80668D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8D786-A4A2-4B11-BC08-765D96B3E12B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EE500-9FBA-27DD-64E5-9920B38A1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D9A98-DF35-7ECA-9AD9-636961E68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A183-5FC6-40AB-B969-DDE8B5D10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67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CD2EC-DE6F-43E9-3A26-4F14E81CD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E3E0A-5A63-45F1-C1C6-03F62DB8A51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14D76-B593-8FD0-6E08-68BEF893B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1CE3E-F63F-EECF-2129-987246304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8D786-A4A2-4B11-BC08-765D96B3E12B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28793-4A5F-0DF1-3495-62AC3D6F0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969B6-920E-D288-AA78-934BF694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A183-5FC6-40AB-B969-DDE8B5D10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2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1C506-A519-6933-DE0E-DFE17A95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93F23-2B3C-4F1A-AF2B-E7A888836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3F1D1-89E0-730D-E808-E6D84A53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8D786-A4A2-4B11-BC08-765D96B3E12B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D6EBA-5386-C23E-E4D5-69D5997B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140CE-600E-9CAB-482B-748C1F623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A183-5FC6-40AB-B969-DDE8B5D10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3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712023-C9D6-AF45-8DB4-E20D43797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B0E34-77A2-A8A4-A45F-E668FECBB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804F2-FA8F-7110-188E-BA90A154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8D786-A4A2-4B11-BC08-765D96B3E12B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BFCB2-3089-9FA6-3A1E-C8B0AA6A2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5D470-02D9-4675-2BA8-2304316C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A183-5FC6-40AB-B969-DDE8B5D10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72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B3657B-5DA0-82AC-79F9-07EFEB5E1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7A8E0-6960-926F-0F1F-F7544715C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0F1D3-2158-2FC1-0B15-AA296CEB51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8D786-A4A2-4B11-BC08-765D96B3E12B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48FAC-60D8-2EB6-2182-25D17B1EF2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BC7DB-F9C3-3484-D0E1-561088B96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9A183-5FC6-40AB-B969-DDE8B5D10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4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3653C-2DAF-E229-139F-D4241A0486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USB Forensics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E328E-BE99-114C-3E36-92D7AFE316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64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4AA40-A3B9-6F94-2E4A-51D6CCA4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Examination </a:t>
            </a:r>
            <a:r>
              <a:rPr lang="en-US" dirty="0" err="1"/>
              <a:t>WorkFlow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BB9BF5-4675-0771-6C76-B2F1A822FE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341535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0804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2AF81-4F1E-EEEE-4FB9-CDE071F8E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2CC4-93E0-F51C-DA6B-FA2657408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Examination </a:t>
            </a:r>
            <a:r>
              <a:rPr lang="en-US" dirty="0" err="1"/>
              <a:t>WorkFlow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90D20E-8DD9-8959-FF64-3A7755164F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874913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2552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1A5D-C362-217B-600E-BD83ADBCA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Evidence integrity and acquisition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AB9CE-6BDC-2FEF-27F0-CE02E5195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Record the evidence ID, source device, capacity, serial number (if available), and acquisition date.</a:t>
            </a:r>
          </a:p>
          <a:p>
            <a:pPr lvl="0"/>
            <a:r>
              <a:rPr lang="en-US" dirty="0"/>
              <a:t>Identify the image format: RAW/DD, E01, AFF4, or another format.</a:t>
            </a:r>
          </a:p>
          <a:p>
            <a:pPr lvl="0"/>
            <a:r>
              <a:rPr lang="en-US" b="1" dirty="0"/>
              <a:t>Calculate and record a cryptographic hash, preferably SHA-256.</a:t>
            </a:r>
          </a:p>
          <a:p>
            <a:pPr lvl="0"/>
            <a:r>
              <a:rPr lang="en-US" b="1" dirty="0"/>
              <a:t>Verify the image hash against the acquisition hash, if available.</a:t>
            </a:r>
          </a:p>
          <a:p>
            <a:pPr lvl="0"/>
            <a:r>
              <a:rPr lang="en-US" dirty="0"/>
              <a:t>Preserve the original image and analyze a working copy.</a:t>
            </a:r>
          </a:p>
          <a:p>
            <a:pPr lvl="0"/>
            <a:r>
              <a:rPr lang="en-US" dirty="0"/>
              <a:t>Record the forensic tools, versions, commands, and examiner actions.</a:t>
            </a:r>
          </a:p>
          <a:p>
            <a:pPr lvl="0"/>
            <a:r>
              <a:rPr lang="en-US" dirty="0"/>
              <a:t>Confirm whether the image includes the entire disk or only a partition or logical file collection.</a:t>
            </a:r>
          </a:p>
        </p:txBody>
      </p:sp>
    </p:spTree>
    <p:extLst>
      <p:ext uri="{BB962C8B-B14F-4D97-AF65-F5344CB8AC3E}">
        <p14:creationId xmlns:p14="http://schemas.microsoft.com/office/powerpoint/2010/main" val="3924285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4476F-3DEF-29C3-3BB7-B4C9066A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Disk and partition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5F20A-E6FC-D4AD-655F-16761EB2F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effectLst/>
              </a:rPr>
              <a:t>MBR or GPT partition scheme</a:t>
            </a:r>
          </a:p>
          <a:p>
            <a:pPr lvl="0"/>
            <a:r>
              <a:rPr lang="en-US" dirty="0">
                <a:effectLst/>
              </a:rPr>
              <a:t>Number and size of partitions</a:t>
            </a:r>
          </a:p>
          <a:p>
            <a:pPr lvl="0"/>
            <a:r>
              <a:rPr lang="en-US" b="1" dirty="0">
                <a:effectLst/>
              </a:rPr>
              <a:t>Unallocated space between or after partitions</a:t>
            </a:r>
          </a:p>
          <a:p>
            <a:pPr lvl="0"/>
            <a:r>
              <a:rPr lang="en-US" b="1" dirty="0">
                <a:effectLst/>
              </a:rPr>
              <a:t>Hidden or unusual partitions</a:t>
            </a:r>
          </a:p>
          <a:p>
            <a:pPr lvl="0"/>
            <a:r>
              <a:rPr lang="en-US" dirty="0">
                <a:effectLst/>
              </a:rPr>
              <a:t>Boot sectors and partition boundaries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120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1D424-FFD6-9D95-FD57-677BAEC02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File system identification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5EF56-36B5-F669-4AB2-F38D9105B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effectLst/>
              </a:rPr>
              <a:t>NTFS, FAT16/FAT32, </a:t>
            </a:r>
            <a:r>
              <a:rPr lang="en-US" dirty="0" err="1">
                <a:effectLst/>
              </a:rPr>
              <a:t>exFAT</a:t>
            </a:r>
            <a:r>
              <a:rPr lang="en-US" dirty="0">
                <a:effectLst/>
              </a:rPr>
              <a:t>, ext4, APFS, or other formats</a:t>
            </a:r>
          </a:p>
          <a:p>
            <a:pPr lvl="0"/>
            <a:r>
              <a:rPr lang="en-US" dirty="0">
                <a:effectLst/>
              </a:rPr>
              <a:t>Volume labels and file-system timestamps</a:t>
            </a:r>
          </a:p>
          <a:p>
            <a:pPr lvl="0"/>
            <a:r>
              <a:rPr lang="en-US" dirty="0">
                <a:effectLst/>
              </a:rPr>
              <a:t>NTFS Master File Table (MFT), if present</a:t>
            </a:r>
          </a:p>
          <a:p>
            <a:pPr lvl="0"/>
            <a:r>
              <a:rPr lang="en-US" dirty="0">
                <a:effectLst/>
              </a:rPr>
              <a:t>FAT directory entries and allocation tables</a:t>
            </a:r>
          </a:p>
          <a:p>
            <a:pPr lvl="0"/>
            <a:r>
              <a:rPr lang="en-US" dirty="0">
                <a:effectLst/>
              </a:rPr>
              <a:t>File-system errors, inconsistencies, or signs of tampering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235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FA1E1-EAB3-770E-A5F6-50DB5CEA8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1F6C91-576C-9902-3C1D-22EB6A2E3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334" y="1825625"/>
            <a:ext cx="56033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64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36629-47C9-E1E2-CF27-F6376B786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7E39F5-455B-07ED-42E4-041D3CF3B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158" y="1825625"/>
            <a:ext cx="58276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976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3F2F-A388-8A20-2397-CF6832C46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Files and directories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D0AD5-1838-32B6-842E-670F3D936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Identify important files and folders, including hidden and system files.</a:t>
            </a:r>
          </a:p>
          <a:p>
            <a:pPr lvl="0"/>
            <a:r>
              <a:rPr lang="en-US" dirty="0"/>
              <a:t>Check file names, extensions, sizes, paths, and timestamps.</a:t>
            </a:r>
          </a:p>
          <a:p>
            <a:pPr lvl="0"/>
            <a:r>
              <a:rPr lang="en-US" dirty="0"/>
              <a:t>Identify files whose extensions do not match their actual file types.</a:t>
            </a:r>
          </a:p>
          <a:p>
            <a:pPr lvl="0"/>
            <a:r>
              <a:rPr lang="en-US" dirty="0"/>
              <a:t>Look for suspicious executables, scripts, archives, documents, and shortcuts.</a:t>
            </a:r>
          </a:p>
          <a:p>
            <a:pPr lvl="0"/>
            <a:r>
              <a:rPr lang="en-US" dirty="0"/>
              <a:t>Search for files with unusual names, random characters, or misleading extensions.</a:t>
            </a:r>
          </a:p>
          <a:p>
            <a:pPr lvl="0"/>
            <a:r>
              <a:rPr lang="en-US" dirty="0"/>
              <a:t>Examine recently created, modified, accessed, or deleted files.</a:t>
            </a:r>
          </a:p>
          <a:p>
            <a:pPr lvl="0"/>
            <a:r>
              <a:rPr lang="en-US" dirty="0"/>
              <a:t>Identify duplicate files and compare their hashes.</a:t>
            </a:r>
          </a:p>
          <a:p>
            <a:pPr lvl="0"/>
            <a:r>
              <a:rPr lang="en-US" dirty="0"/>
              <a:t>Extract metadata from relevant documents, images, videos, and PDFs.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409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8F54B-3092-1ADD-729F-776EF527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Deleted files and data recovery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5BEDA-643C-56B9-5552-A09EB347C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Recover deleted files from file-system records where possible.</a:t>
            </a:r>
          </a:p>
          <a:p>
            <a:pPr lvl="0"/>
            <a:r>
              <a:rPr lang="en-US" dirty="0"/>
              <a:t>Search unallocated clusters for remnants of deleted data.</a:t>
            </a:r>
          </a:p>
          <a:p>
            <a:pPr lvl="0"/>
            <a:r>
              <a:rPr lang="en-US" dirty="0"/>
              <a:t>Examine file-system metadata for deleted file names, paths, sizes, and timestamps.</a:t>
            </a:r>
          </a:p>
          <a:p>
            <a:pPr lvl="0"/>
            <a:r>
              <a:rPr lang="en-US" dirty="0"/>
              <a:t>Perform file carving to recover content using file signatures, even when directory records are missing.</a:t>
            </a:r>
          </a:p>
          <a:p>
            <a:pPr lvl="0"/>
            <a:r>
              <a:rPr lang="en-US" dirty="0"/>
              <a:t>Look for partially overwritten files and fragmented data.</a:t>
            </a:r>
          </a:p>
          <a:p>
            <a:pPr lvl="0"/>
            <a:r>
              <a:rPr lang="en-US" dirty="0"/>
              <a:t>Check whether recovered files are complete, corrupted, or only partially recoverable.</a:t>
            </a:r>
          </a:p>
          <a:p>
            <a:pPr lvl="0"/>
            <a:r>
              <a:rPr lang="en-US" dirty="0"/>
              <a:t>Identify evidence of deliberate deletion, wiping, or secure erasure.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286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FA25-9CDD-6467-D21D-7B5416648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Timeline and correlations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2B342-39D0-27CD-083D-142B1FAC4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timeline of relevant file-system events.</a:t>
            </a:r>
          </a:p>
          <a:p>
            <a:r>
              <a:rPr lang="en-US" dirty="0"/>
              <a:t>Normalize times carefully and record the source time zone.</a:t>
            </a:r>
          </a:p>
          <a:p>
            <a:r>
              <a:rPr lang="en-US" dirty="0"/>
              <a:t>Compare file creation, modification, and metadata timestamps.</a:t>
            </a:r>
          </a:p>
          <a:p>
            <a:r>
              <a:rPr lang="en-US" dirty="0"/>
              <a:t>Correlate related files, directory locations, hashes, and metadata.</a:t>
            </a:r>
          </a:p>
          <a:p>
            <a:r>
              <a:rPr lang="en-US" dirty="0"/>
              <a:t>Identify conflicting timestamps and plausible alternative explanations.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058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3BA7-9493-EA4C-B123-FAD4B55B2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Suspicious files, malware, and anti-forensics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EEA6C-38AD-F711-E1C0-C2F35BA0C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Executables and scripts: .exe, .</a:t>
            </a:r>
            <a:r>
              <a:rPr lang="en-US" dirty="0" err="1"/>
              <a:t>dll</a:t>
            </a:r>
            <a:r>
              <a:rPr lang="en-US" dirty="0"/>
              <a:t>, .bat, .</a:t>
            </a:r>
            <a:r>
              <a:rPr lang="en-US" dirty="0" err="1"/>
              <a:t>cmd</a:t>
            </a:r>
            <a:r>
              <a:rPr lang="en-US" dirty="0"/>
              <a:t>, .ps1, .</a:t>
            </a:r>
            <a:r>
              <a:rPr lang="en-US" dirty="0" err="1"/>
              <a:t>vbs</a:t>
            </a:r>
            <a:r>
              <a:rPr lang="en-US" dirty="0"/>
              <a:t>, .</a:t>
            </a:r>
            <a:r>
              <a:rPr lang="en-US" dirty="0" err="1"/>
              <a:t>js</a:t>
            </a:r>
            <a:r>
              <a:rPr lang="en-US" dirty="0"/>
              <a:t>, and relevant Linux/macOS executable formats.</a:t>
            </a:r>
          </a:p>
          <a:p>
            <a:pPr lvl="0"/>
            <a:r>
              <a:rPr lang="en-US" dirty="0"/>
              <a:t>Double extensions, such as invoice.pdf.exe.</a:t>
            </a:r>
          </a:p>
          <a:p>
            <a:pPr lvl="0"/>
            <a:r>
              <a:rPr lang="en-US" dirty="0"/>
              <a:t>Files with mismatched signatures and extensions.</a:t>
            </a:r>
          </a:p>
          <a:p>
            <a:pPr lvl="0"/>
            <a:r>
              <a:rPr lang="en-US" dirty="0"/>
              <a:t>Password-protected or suspicious archives.</a:t>
            </a:r>
          </a:p>
          <a:p>
            <a:pPr lvl="0"/>
            <a:r>
              <a:rPr lang="en-US" dirty="0"/>
              <a:t>Malware indicators, persistence mechanisms, and suspicious scheduled tasks.</a:t>
            </a:r>
          </a:p>
          <a:p>
            <a:pPr lvl="0"/>
            <a:r>
              <a:rPr lang="en-US" dirty="0"/>
              <a:t>Evidence of wiping utilities, secure deletion, or log clearing.</a:t>
            </a:r>
          </a:p>
          <a:p>
            <a:pPr lvl="0"/>
            <a:r>
              <a:rPr lang="en-US" dirty="0"/>
              <a:t>Alternate Data Streams (ADS) on NTFS.</a:t>
            </a:r>
          </a:p>
          <a:p>
            <a:pPr lvl="0"/>
            <a:r>
              <a:rPr lang="en-US" dirty="0"/>
              <a:t>Hidden partitions, unusual file-system structures, or concealed data.</a:t>
            </a:r>
          </a:p>
          <a:p>
            <a:pPr lvl="0"/>
            <a:r>
              <a:rPr lang="en-US" dirty="0"/>
              <a:t>Encrypted volumes, containers, or password-protected files.</a:t>
            </a:r>
          </a:p>
        </p:txBody>
      </p:sp>
    </p:spTree>
    <p:extLst>
      <p:ext uri="{BB962C8B-B14F-4D97-AF65-F5344CB8AC3E}">
        <p14:creationId xmlns:p14="http://schemas.microsoft.com/office/powerpoint/2010/main" val="3338426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1279-B9EE-1E6C-7A56-FEBEAFA2C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File content and keyword searches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675C5-B3A7-BF46-626A-349C7428E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effectLst/>
              </a:rPr>
              <a:t>Names, usernames, email addresses, and account identifiers relevant to the case.</a:t>
            </a:r>
          </a:p>
          <a:p>
            <a:pPr lvl="0"/>
            <a:r>
              <a:rPr lang="en-US" dirty="0">
                <a:effectLst/>
              </a:rPr>
              <a:t>Project names, document titles, or confidential-data labels.</a:t>
            </a:r>
          </a:p>
          <a:p>
            <a:pPr lvl="0"/>
            <a:r>
              <a:rPr lang="en-US" dirty="0">
                <a:effectLst/>
              </a:rPr>
              <a:t>Relevant dates, phone numbers, IP addresses, and domain names.</a:t>
            </a:r>
          </a:p>
          <a:p>
            <a:pPr lvl="0"/>
            <a:r>
              <a:rPr lang="en-US" dirty="0">
                <a:effectLst/>
              </a:rPr>
              <a:t>Case-specific keywords or phrases.</a:t>
            </a:r>
          </a:p>
          <a:p>
            <a:pPr lvl="0"/>
            <a:r>
              <a:rPr lang="en-US" dirty="0">
                <a:effectLst/>
              </a:rPr>
              <a:t>References to file transfers, deletion, concealment, or suspicious activities.</a:t>
            </a:r>
          </a:p>
        </p:txBody>
      </p:sp>
    </p:spTree>
    <p:extLst>
      <p:ext uri="{BB962C8B-B14F-4D97-AF65-F5344CB8AC3E}">
        <p14:creationId xmlns:p14="http://schemas.microsoft.com/office/powerpoint/2010/main" val="1337352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24754-06A9-9ED3-ADDD-1504DDB9A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Encryption, partitions, and hidden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B9630-59A9-365E-9EE5-D346C637C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effectLst/>
              </a:rPr>
              <a:t>BitLocker, </a:t>
            </a:r>
            <a:r>
              <a:rPr lang="en-US" dirty="0" err="1">
                <a:effectLst/>
              </a:rPr>
              <a:t>FileVault</a:t>
            </a:r>
            <a:r>
              <a:rPr lang="en-US" dirty="0">
                <a:effectLst/>
              </a:rPr>
              <a:t>, LUKS, or other encryption indicators.</a:t>
            </a:r>
          </a:p>
          <a:p>
            <a:pPr lvl="0"/>
            <a:r>
              <a:rPr lang="en-US" dirty="0">
                <a:effectLst/>
              </a:rPr>
              <a:t>Encrypted containers and password-protected archives.</a:t>
            </a:r>
          </a:p>
          <a:p>
            <a:pPr lvl="0"/>
            <a:r>
              <a:rPr lang="en-US" dirty="0">
                <a:effectLst/>
              </a:rPr>
              <a:t>Unallocated space and slack space.</a:t>
            </a:r>
          </a:p>
          <a:p>
            <a:pPr lvl="0"/>
            <a:r>
              <a:rPr lang="en-US" dirty="0">
                <a:effectLst/>
              </a:rPr>
              <a:t>Hidden partitions and unusual partition layouts.</a:t>
            </a:r>
          </a:p>
          <a:p>
            <a:pPr lvl="0"/>
            <a:r>
              <a:rPr lang="en-US" dirty="0">
                <a:effectLst/>
              </a:rPr>
              <a:t>Possible steganography in image, audio, or video files.</a:t>
            </a:r>
          </a:p>
          <a:p>
            <a:pPr lvl="0"/>
            <a:r>
              <a:rPr lang="en-US" dirty="0">
                <a:effectLst/>
              </a:rPr>
              <a:t>Evidence of deleted partition entries or damaged file systems.</a:t>
            </a:r>
          </a:p>
        </p:txBody>
      </p:sp>
    </p:spTree>
    <p:extLst>
      <p:ext uri="{BB962C8B-B14F-4D97-AF65-F5344CB8AC3E}">
        <p14:creationId xmlns:p14="http://schemas.microsoft.com/office/powerpoint/2010/main" val="1234752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</TotalTime>
  <Words>779</Words>
  <Application>Microsoft Office PowerPoint</Application>
  <PresentationFormat>Widescreen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USB Forensics</vt:lpstr>
      <vt:lpstr>Examination WorkFlow</vt:lpstr>
      <vt:lpstr>Examination WorkFlow</vt:lpstr>
      <vt:lpstr>Evidence integrity and acquisition</vt:lpstr>
      <vt:lpstr>Disk and partition structure</vt:lpstr>
      <vt:lpstr>File system identification</vt:lpstr>
      <vt:lpstr>PowerPoint Presentation</vt:lpstr>
      <vt:lpstr>PowerPoint Presentation</vt:lpstr>
      <vt:lpstr>Files and directories</vt:lpstr>
      <vt:lpstr>Deleted files and data recovery</vt:lpstr>
      <vt:lpstr>Timeline and correlations</vt:lpstr>
      <vt:lpstr>Suspicious files, malware, and anti-forensics</vt:lpstr>
      <vt:lpstr>File content and keyword searches</vt:lpstr>
      <vt:lpstr>Encryption, partitions, and hidden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Narayana</dc:creator>
  <cp:lastModifiedBy>Ibrahim Narayana</cp:lastModifiedBy>
  <cp:revision>20</cp:revision>
  <dcterms:created xsi:type="dcterms:W3CDTF">2026-10-11T23:11:41Z</dcterms:created>
  <dcterms:modified xsi:type="dcterms:W3CDTF">2026-10-13T06:42:39Z</dcterms:modified>
</cp:coreProperties>
</file>